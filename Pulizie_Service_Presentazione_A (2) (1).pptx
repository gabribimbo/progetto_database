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85" r:id="rId5"/>
    <p:sldId id="259" r:id="rId6"/>
    <p:sldId id="260" r:id="rId7"/>
    <p:sldId id="261" r:id="rId8"/>
    <p:sldId id="262" r:id="rId9"/>
    <p:sldId id="263" r:id="rId10"/>
    <p:sldId id="286" r:id="rId11"/>
    <p:sldId id="284" r:id="rId12"/>
    <p:sldId id="264" r:id="rId13"/>
    <p:sldId id="265" r:id="rId14"/>
    <p:sldId id="266" r:id="rId15"/>
    <p:sldId id="267" r:id="rId16"/>
    <p:sldId id="283" r:id="rId17"/>
    <p:sldId id="269" r:id="rId18"/>
    <p:sldId id="270" r:id="rId19"/>
    <p:sldId id="289" r:id="rId20"/>
    <p:sldId id="271" r:id="rId21"/>
    <p:sldId id="272" r:id="rId22"/>
    <p:sldId id="273" r:id="rId23"/>
    <p:sldId id="274" r:id="rId24"/>
    <p:sldId id="275" r:id="rId25"/>
    <p:sldId id="280" r:id="rId26"/>
    <p:sldId id="281" r:id="rId27"/>
    <p:sldId id="282" r:id="rId28"/>
    <p:sldId id="290" r:id="rId29"/>
    <p:sldId id="276" r:id="rId30"/>
    <p:sldId id="277" r:id="rId31"/>
    <p:sldId id="278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09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97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BASI DI DATI · A.A. 2025/2026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254203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Pulizie Service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822192"/>
            <a:ext cx="1920240" cy="0"/>
          </a:xfrm>
          <a:prstGeom prst="line">
            <a:avLst/>
          </a:prstGeom>
          <a:noFill/>
          <a:ln w="38100">
            <a:solidFill>
              <a:srgbClr val="13A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416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informativo per la gestione di un'impresa di pulizie professionali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Gabriele Bimbo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Matricola 0334000064     ·     A.A. 2025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Percorso della presentazione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e contesto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865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applicativo e obiettivi del progetto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807208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98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8986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di fattibilità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278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sistema e requisiti in linguaggio naturale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648456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398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37398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Progettazione concettuale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069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Entità, relazioni, cardinalità e generalizzazioni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489704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811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4581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Progettazione logica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9103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relazionale, vincoli e normalizzazione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5330952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54480" y="54223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e sicurezza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7515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trigger, interfaccia, difese e accessi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contesto applicativo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L'impresa «Pulizie Service» offre servizi di pulizia ordinaria e straordinaria e interventi di sanificazione, rivolti sia a clienti privati sia ad aziende. Il progetto realizza un sistema informativo che digitalizza completamente la gestione operativa dell'attività.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gestisce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 privati e aziende, con i relativi dati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 dell'impresa e squadre operative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dei servizi e prenotazioni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0" y="3520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 e calcolo automatico degli importi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rilasciate dai clienti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di pulizia impiegati nei servizi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50">
                <a:solidFill>
                  <a:srgbClr val="13A89E"/>
                </a:solidFill>
                <a:latin typeface="Calibri"/>
              </a:rPr>
              <a:t>INTRODUZIONE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3A43"/>
                </a:solidFill>
                <a:latin typeface="Cambria"/>
              </a:rPr>
              <a:t>I servizi offerti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591056"/>
            <a:ext cx="777240" cy="0"/>
          </a:xfrm>
          <a:prstGeom prst="line">
            <a:avLst/>
          </a:prstGeom>
          <a:ln w="34925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288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5A6B70"/>
                </a:solidFill>
                <a:latin typeface="Calibri"/>
              </a:rPr>
              <a:t>L'impresa propone tre tipologie di intervento, rivolte sia a clienti privati sia ad aziende.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3A89E"/>
                </a:solidFill>
                <a:latin typeface="Calibri"/>
              </a:rPr>
              <a:t>Tipologie di intervento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10241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0E3A43"/>
                </a:solidFill>
                <a:latin typeface="Calibri"/>
              </a:rPr>
              <a:t>Pulizia ordinaria   </a:t>
            </a:r>
            <a:r>
              <a:rPr sz="1500" b="0" i="0">
                <a:solidFill>
                  <a:srgbClr val="5A6B70"/>
                </a:solidFill>
                <a:latin typeface="Calibri"/>
              </a:rPr>
              <a:t>interventi periodici di pulizia, con una frequenza concordata con il cliente.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0E3A43"/>
                </a:solidFill>
                <a:latin typeface="Calibri"/>
              </a:rPr>
              <a:t>Pulizia straordinaria   </a:t>
            </a:r>
            <a:r>
              <a:rPr sz="1500" b="0" i="0">
                <a:solidFill>
                  <a:srgbClr val="5A6B70"/>
                </a:solidFill>
                <a:latin typeface="Calibri"/>
              </a:rPr>
              <a:t>interventi mirati su ambienti caratterizzati da un livello di sporco elevato.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0E3A43"/>
                </a:solidFill>
                <a:latin typeface="Calibri"/>
              </a:rPr>
              <a:t>Sanificazione   </a:t>
            </a:r>
            <a:r>
              <a:rPr sz="1500" b="0" i="0">
                <a:solidFill>
                  <a:srgbClr val="5A6B70"/>
                </a:solidFill>
                <a:latin typeface="Calibri"/>
              </a:rPr>
              <a:t>trattamenti specifici con prodotti dedicati e, ove richiesto, certificazione dell'intervento.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5166360"/>
            <a:ext cx="10241279" cy="0"/>
          </a:xfrm>
          <a:prstGeom prst="line">
            <a:avLst/>
          </a:prstGeom>
          <a:ln w="9525">
            <a:solidFill>
              <a:srgbClr val="DCE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53035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A6B70"/>
                </a:solidFill>
                <a:latin typeface="Calibri"/>
              </a:rPr>
              <a:t>Ogni servizio ha un prezzo base e una durata stimata; l'importo finale dipende dalla quantità richiesta.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DCE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50">
                <a:solidFill>
                  <a:srgbClr val="9AA7AB"/>
                </a:solidFill>
                <a:latin typeface="Calibri"/>
              </a:rPr>
              <a:t>Pulizie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0" b="1" dirty="0">
                <a:solidFill>
                  <a:srgbClr val="0A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800" dirty="0"/>
          </a:p>
        </p:txBody>
      </p:sp>
      <p:sp>
        <p:nvSpPr>
          <p:cNvPr id="4" name="Text 2"/>
          <p:cNvSpPr/>
          <p:nvPr/>
        </p:nvSpPr>
        <p:spPr>
          <a:xfrm>
            <a:off x="320040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54680" y="2852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di Fattibilità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3767328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sistema e analisi dei requisiti in linguaggio naturale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STUDIO DI FATTIBILITÀ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Digitalizzare completamente l'attività dell'impresa, sostituendo la gestione manuale con una piattaforma unica accessibile a clienti, personale e amministratori.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particolare il sistema deve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0241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 e distinguere i clienti tra privati e aziende;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il personale per ruoli e organizzarlo in squadre operative;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il catalogo dei servizi e le prenotazioni dei clienti;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calcolare in automatico gli importi e registrare i pagamenti;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5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raccogliere le recensioni sui servizi erogati.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STUDIO DI FATTIBILITÀ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 in linguaggio naturale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R1 – R8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37215" cy="409651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Registrare i clienti distinguendo tra privati e aziende.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Memorizzare nome, cognome, telefono, email e tipologia del cliente.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Privati: codice fiscale e indirizzo. Aziende: partita IVA e sede legale.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Registrare lo staff per ruoli: titolare, capo area, capo squadra, operaio.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ogni membro: nome, cognome, ruolo, disponibilità e attributi del ruolo.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Registrare i servizi con nome, descrizione, prezzo base e durata stimata.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Distinguere i servizi in pulizia ordinaria, straordinaria e sanificazione.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cliente può prenotare più servizi del catalogo.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STUDIO DI FATTIBILITÀ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 in linguaggio naturale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R9 – R16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37215" cy="409651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ogni prenotazione: data, stato, indirizzo di intervento e quantità.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L'importo è calcolato in automatico come prezzo base × quantità.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Registrare metodo e data di pagamento alla conclusione del servizio.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staff esegue i servizi (relazione molti-a-molti).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membro assegnato a un servizio risulta non disponibile.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ogni servizio è possibile registrare una recensione.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personale è organizzato in squadre per zona operativa.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A8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prodotti di pulizia sono impiegati nei servizi (molti-a-molti).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0" b="1" dirty="0">
                <a:solidFill>
                  <a:srgbClr val="0A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800" dirty="0"/>
          </a:p>
        </p:txBody>
      </p:sp>
      <p:sp>
        <p:nvSpPr>
          <p:cNvPr id="4" name="Text 2"/>
          <p:cNvSpPr/>
          <p:nvPr/>
        </p:nvSpPr>
        <p:spPr>
          <a:xfrm>
            <a:off x="320040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54680" y="2852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Progettazione Concettuale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3767328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Entità, relazioni, cardinalità e generalizzazioni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50">
                <a:solidFill>
                  <a:srgbClr val="13A89E"/>
                </a:solidFill>
                <a:latin typeface="Calibri"/>
              </a:rPr>
              <a:t>02 · PROGETTAZIONE CONCETTUALE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3A43"/>
                </a:solidFill>
                <a:latin typeface="Cambria"/>
              </a:rPr>
              <a:t>Il modello concettuale iniziale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591056"/>
            <a:ext cx="777240" cy="0"/>
          </a:xfrm>
          <a:prstGeom prst="line">
            <a:avLst/>
          </a:prstGeom>
          <a:ln w="34925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2880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5A6B70"/>
                </a:solidFill>
                <a:latin typeface="Calibri"/>
              </a:rPr>
              <a:t>La progettazione concettuale individua le entità del dominio e le relazioni tra esse, senza considerare aspetti implementativi.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241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500" b="0" i="0">
                <a:solidFill>
                  <a:srgbClr val="1B3A41"/>
                </a:solidFill>
                <a:latin typeface="Calibri"/>
              </a:rPr>
              <a:t>CLIENTE, STAFF e SERVIZIO sono le tre entità principali, ciascuna specializzata in sottoclassi;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500" b="0" i="0">
                <a:solidFill>
                  <a:srgbClr val="1B3A41"/>
                </a:solidFill>
                <a:latin typeface="Calibri"/>
              </a:rPr>
              <a:t>SQUADRA rappresenta i gruppi operativi in cui è organizzato il personale;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500" b="0" i="0">
                <a:solidFill>
                  <a:srgbClr val="1B3A41"/>
                </a:solidFill>
                <a:latin typeface="Calibri"/>
              </a:rPr>
              <a:t>PRODOTTO rappresenta i prodotti di pulizia impiegati negli interventi;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500" b="0" i="0">
                <a:solidFill>
                  <a:srgbClr val="1B3A41"/>
                </a:solidFill>
                <a:latin typeface="Calibri"/>
              </a:rPr>
              <a:t>le entità sono collegate dalle relazioni PRENOTA, ESEGUE, COMPOSTA_DA e UTILIZZA.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DCE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50">
                <a:solidFill>
                  <a:srgbClr val="9AA7AB"/>
                </a:solidFill>
                <a:latin typeface="Calibri"/>
              </a:rPr>
              <a:t>Pulizie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D874D0B6-DC91-F739-BDC2-A44C8C7EE29D}"/>
              </a:ext>
            </a:extLst>
          </p:cNvPr>
          <p:cNvSpPr txBox="1"/>
          <p:nvPr/>
        </p:nvSpPr>
        <p:spPr>
          <a:xfrm>
            <a:off x="423236" y="254016"/>
            <a:ext cx="3572691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PROGETTAZIONE CONCETTUALE</a:t>
            </a:r>
            <a:endParaRPr lang="en-US" sz="1150" dirty="0"/>
          </a:p>
          <a:p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6AC39F-C0ED-5A0F-8832-91F5A5E50062}"/>
              </a:ext>
            </a:extLst>
          </p:cNvPr>
          <p:cNvSpPr txBox="1"/>
          <p:nvPr/>
        </p:nvSpPr>
        <p:spPr>
          <a:xfrm>
            <a:off x="333103" y="496390"/>
            <a:ext cx="449362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Modello</a:t>
            </a: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E-R</a:t>
            </a:r>
            <a:endParaRPr lang="en-US" sz="2800" dirty="0"/>
          </a:p>
          <a:p>
            <a:endParaRPr lang="it-IT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ADD72C4-A5BA-B9AA-1402-923CB40083DA}"/>
              </a:ext>
            </a:extLst>
          </p:cNvPr>
          <p:cNvSpPr/>
          <p:nvPr/>
        </p:nvSpPr>
        <p:spPr>
          <a:xfrm>
            <a:off x="423236" y="108813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F545981-2674-A9EF-28C1-0F7C59C4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83" y="1437509"/>
            <a:ext cx="10392937" cy="51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30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PROGETTAZIONE CONCETTUALE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cinque entità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Committente del servizio, privato o azienda.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83480" y="1892808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nome, cognome, telefono, email, tipo_cliente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15184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035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 dell'impresa che esegue i servizi.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734056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nome, cognome, ruolo, disponibilità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56432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112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SERVIZIO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877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Intervento offerto, oggetto di prenotazione.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575304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nome, descrizione, prezzo_base, durata, tipo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97680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52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SQUADRA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7183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operativo che organizza il personale.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4416552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id_squadra, nome_squadra, zona_operativa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138928"/>
            <a:ext cx="10637215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93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PRODOTTO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5559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di pulizia impiegato nei servizi.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5257800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id_prodotto, nome_prodotto, tipo_prodotto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PROGETTAZIONE CONCETTUALE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Relazioni e cardinalità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7215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Entità coinvolte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A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PRENOTA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– SERVIZIO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E3A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(1,N) – (1,N)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 attributi propri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3A8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A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– SERVIZIO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E3A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(1,N) – (1,N)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 la disponibilità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A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COMPOSTA_DA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– SQUADRA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E3A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(0,N) – (1,N)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staff può non avere squadra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A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3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SERVIZIO – PRODOTTO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E3A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(1,N) – (1,N)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Prodotti impiegati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relazione PRENOTA possiede attributi propri (data, stato, indirizzo, quantità): diventa un'entità associativa nello schema logico.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PROGETTAZIONE CONCETTUALE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generalizzazioni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generalizzazioni, tutte di tipo totale ed esclusivo (T,E): ogni occorrenza della superclasse appartiene a una e una sola sottoclasse.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 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Titolare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quota_societaria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Capo area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area_competenza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Capo squadra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numero_squadra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Operaio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specializzazione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2816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 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315468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codice_fiscale, indirizzo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partita_iva, sede_legale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0100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SERVIZIO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01000" y="2816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 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0" y="315468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ordinaria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frequenza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straordinaria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livello_sporco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Sanificazione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prodotto, certificazione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PROGETTAZIONE CONCETTUALE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Risoluzione delle generalizzazioni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le strategie possibili — accorpamento nelle figlie, accorpamento </a:t>
            </a:r>
            <a:r>
              <a:rPr lang="en-US" sz="155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5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padre— è stato scelto l'accorpamento nel padre.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questa scelta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più semplice, con meno tabelle e meno JOIN;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 delle sottoclassi resi opzionali nella superclasse;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Compromesso accettabile: alcuni valori nulli.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122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 discriminatori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2280" y="3154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49640" y="31546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0" y="3154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ruolo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3575304"/>
            <a:ext cx="4206240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703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370332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0" y="3703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tipo_cliente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4123944"/>
            <a:ext cx="4206240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251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49640" y="42519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42519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tipo_servizio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4672584"/>
            <a:ext cx="4206240" cy="0"/>
          </a:xfrm>
          <a:prstGeom prst="line">
            <a:avLst/>
          </a:prstGeom>
          <a:noFill/>
          <a:ln w="9525">
            <a:solidFill>
              <a:srgbClr val="EAF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9BE2ABA4-4205-83B8-E3CF-A28341797C12}"/>
              </a:ext>
            </a:extLst>
          </p:cNvPr>
          <p:cNvSpPr txBox="1"/>
          <p:nvPr/>
        </p:nvSpPr>
        <p:spPr>
          <a:xfrm>
            <a:off x="423236" y="254016"/>
            <a:ext cx="3572691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PROGETTAZIONE CONCETTUALE</a:t>
            </a:r>
            <a:endParaRPr lang="en-US" sz="1150" dirty="0"/>
          </a:p>
          <a:p>
            <a:endParaRPr lang="it-IT" sz="1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9FB090-F35F-E24B-CC3D-A69CC5642574}"/>
              </a:ext>
            </a:extLst>
          </p:cNvPr>
          <p:cNvSpPr txBox="1"/>
          <p:nvPr/>
        </p:nvSpPr>
        <p:spPr>
          <a:xfrm>
            <a:off x="333103" y="496390"/>
            <a:ext cx="449362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</a:t>
            </a:r>
            <a:r>
              <a:rPr lang="en-US" sz="2800" b="1" dirty="0" err="1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modello</a:t>
            </a: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E-R finale</a:t>
            </a:r>
            <a:endParaRPr lang="en-US" sz="2800" dirty="0"/>
          </a:p>
          <a:p>
            <a:endParaRPr lang="it-IT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365333D-5672-C74F-C8D5-6F91DC642D9A}"/>
              </a:ext>
            </a:extLst>
          </p:cNvPr>
          <p:cNvSpPr/>
          <p:nvPr/>
        </p:nvSpPr>
        <p:spPr>
          <a:xfrm>
            <a:off x="423236" y="108813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52862A9-8CAF-D93E-3341-CA85A15171BD}"/>
              </a:ext>
            </a:extLst>
          </p:cNvPr>
          <p:cNvSpPr txBox="1"/>
          <p:nvPr/>
        </p:nvSpPr>
        <p:spPr>
          <a:xfrm>
            <a:off x="423236" y="1145287"/>
            <a:ext cx="6208110" cy="325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</a:t>
            </a:r>
            <a:r>
              <a:rPr lang="en-US" sz="1350" i="1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</a:t>
            </a: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collegate</a:t>
            </a: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quattro </a:t>
            </a:r>
            <a:r>
              <a:rPr lang="en-US" sz="1350" i="1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dopo la </a:t>
            </a:r>
            <a:r>
              <a:rPr lang="en-US" sz="1350" i="1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risoluzione</a:t>
            </a: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</a:t>
            </a: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generalizzazioni</a:t>
            </a: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41AB15E-9C45-1CF4-6B53-035A0D235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1604984"/>
            <a:ext cx="11936817" cy="483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14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0" b="1" dirty="0">
                <a:solidFill>
                  <a:srgbClr val="0A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800" dirty="0"/>
          </a:p>
        </p:txBody>
      </p:sp>
      <p:sp>
        <p:nvSpPr>
          <p:cNvPr id="4" name="Text 2"/>
          <p:cNvSpPr/>
          <p:nvPr/>
        </p:nvSpPr>
        <p:spPr>
          <a:xfrm>
            <a:off x="320040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54680" y="2852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Progettazione Logica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3767328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modello E-R allo schema relazionale, vincoli e normalizzazione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PROGETTAZIONE LOGICA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schema relazionale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cinque entità diventano tabelle; le quattro relazioni molti-a-molti generano tabelle ponte collegate da chiavi esterne.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DELLE ENTITÀ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19" y="2670048"/>
            <a:ext cx="9037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 (PK), nome, cognome, email, </a:t>
            </a:r>
            <a:r>
              <a:rPr lang="en-US" sz="1100" dirty="0" err="1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tipo_cliente</a:t>
            </a: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codice_fiscal</a:t>
            </a: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i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ndirizzo_abitazione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partita_iva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sede_legale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19" y="3035808"/>
            <a:ext cx="92690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id_staff (PK), nome, cognomen, </a:t>
            </a:r>
            <a:r>
              <a:rPr lang="en-US" sz="1100" dirty="0" err="1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ruolo</a:t>
            </a: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disponibilità</a:t>
            </a: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quota_societaria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area_competenza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numero_squadra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specializzazione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0320" y="3401568"/>
            <a:ext cx="91301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id_servizio (PK)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nome, descrizione,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prezzo_base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durata_stimata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tipo_servizio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recensione, frequenza,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livello_sporco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prodotto_utilizzato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it-IT" sz="110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certificazione_richiesta</a:t>
            </a:r>
            <a:r>
              <a:rPr lang="it-IT" sz="110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13" name="Text 11"/>
          <p:cNvSpPr/>
          <p:nvPr/>
        </p:nvSpPr>
        <p:spPr>
          <a:xfrm>
            <a:off x="777240" y="3767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0320" y="37673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id_squadra (PK), nome_squadra, zona_operativa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330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60320" y="41330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id_prodotto (PK), nome_prodotto, tipo_prodotto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544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PONTE  (relazioni N:N)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901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49011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id_prenotazione (PK) · FK cliente, servizio · data, stato, quantità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266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0" y="5266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(id_staff, id_servizio)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632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COMPOSTA_DA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43200" y="5632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(id_squadra, id_staff)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998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43200" y="5998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(id_prodotto, id_servizio)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50">
                <a:solidFill>
                  <a:srgbClr val="13A89E"/>
                </a:solidFill>
                <a:latin typeface="Calibri"/>
              </a:rPr>
              <a:t>03 · PROGETTAZIONE LOGICA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3A43"/>
                </a:solidFill>
                <a:latin typeface="Cambria"/>
              </a:rPr>
              <a:t>Vincoli interrelazionali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591056"/>
            <a:ext cx="777240" cy="0"/>
          </a:xfrm>
          <a:prstGeom prst="line">
            <a:avLst/>
          </a:prstGeom>
          <a:ln w="34925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920240"/>
            <a:ext cx="10332720" cy="386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 dirty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Un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cliente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può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effettuare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più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prenotazioni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;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ogni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prenotazione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appartiene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a un solo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cliente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 dirty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ogni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prenotazione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riguarda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un solo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, ma un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può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comparire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in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più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prenotazioni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 dirty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un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membro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dello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staff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può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eseguire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più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e un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può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essere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eseguito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da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più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membri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 dirty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lo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stato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di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una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prenotazione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assume solo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valori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: In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attesa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Confermata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Completata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Annullata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 dirty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l'importo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è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sempre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pari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al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prezzo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base del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moltiplicato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per la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quantità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 dirty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le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coppie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(staff,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), (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squadra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, staff) e (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servizio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prodotto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) non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possono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B3A41"/>
                </a:solidFill>
                <a:latin typeface="Calibri"/>
              </a:rPr>
              <a:t>ripetersi</a:t>
            </a:r>
            <a:r>
              <a:rPr sz="1450" b="0" i="0" dirty="0">
                <a:solidFill>
                  <a:srgbClr val="1B3A41"/>
                </a:solidFill>
                <a:latin typeface="Calibri"/>
              </a:rPr>
              <a:t>.</a:t>
            </a:r>
            <a:endParaRPr lang="it-IT" sz="1450" b="0" i="0" dirty="0">
              <a:solidFill>
                <a:srgbClr val="1B3A41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lang="it-IT" sz="1450" b="1" i="0" dirty="0">
                <a:solidFill>
                  <a:srgbClr val="13A89E"/>
                </a:solidFill>
                <a:latin typeface="Calibri"/>
              </a:rPr>
              <a:t>— </a:t>
            </a:r>
            <a:r>
              <a:rPr lang="it-IT" sz="1450" b="0" i="0" dirty="0">
                <a:solidFill>
                  <a:srgbClr val="1B3A41"/>
                </a:solidFill>
                <a:latin typeface="Calibri"/>
              </a:rPr>
              <a:t>Una squadra può comprendere più membri dello staff e uno stesso membro può appartenere a più squadre; una stessa coppia (squadra, staff) non può comparire più di una volta nella relazione </a:t>
            </a:r>
            <a:r>
              <a:rPr lang="it-IT" sz="1450" b="0" i="0" dirty="0" err="1">
                <a:solidFill>
                  <a:srgbClr val="1B3A41"/>
                </a:solidFill>
                <a:latin typeface="Calibri"/>
              </a:rPr>
              <a:t>composta_da</a:t>
            </a:r>
            <a:r>
              <a:rPr lang="it-IT" sz="1450" b="0" i="0" dirty="0">
                <a:solidFill>
                  <a:srgbClr val="1B3A41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lang="it-IT" sz="1450" b="1" i="0" dirty="0">
                <a:solidFill>
                  <a:srgbClr val="13A89E"/>
                </a:solidFill>
                <a:latin typeface="Calibri"/>
              </a:rPr>
              <a:t>— </a:t>
            </a:r>
            <a:r>
              <a:rPr lang="it-IT" sz="1450" b="0" i="0" dirty="0">
                <a:solidFill>
                  <a:srgbClr val="1B3A41"/>
                </a:solidFill>
                <a:latin typeface="Calibri"/>
              </a:rPr>
              <a:t>Un servizio può utilizzare più prodotti e uno stesso prodotto può essere impiegato in più servizi; una stessa coppia (servizio, prodotto)           non può comparire più di una volta nella relazione UTILIZZA.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endParaRPr sz="1450" b="0" i="0" dirty="0">
              <a:solidFill>
                <a:srgbClr val="1B3A41"/>
              </a:solidFill>
              <a:latin typeface="Calibri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DCE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50">
                <a:solidFill>
                  <a:srgbClr val="9AA7AB"/>
                </a:solidFill>
                <a:latin typeface="Calibri"/>
              </a:rPr>
              <a:t>Pulizie Service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PROGETTAZIONE LOGICA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84124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Vincoli</a:t>
            </a: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2800" b="1" dirty="0" err="1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normalizzazione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vincoli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 referenziale garantita dalle chiavi esterne;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L'importo è sempre prezzo base × quantità;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della prenotazione assume valori predefiniti;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prenotazione appartiene a un solo cliente.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Normalizzazione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21945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  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 atomici, nessun gruppo ripetuto;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  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attributo non chiave dipende dall'intera chiave;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  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dipendenza transitiva tra attributi.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4160520"/>
            <a:ext cx="4389120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schema ottenuto è conforme alla Terza Forma Normale (3NF).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0" b="1" dirty="0">
                <a:solidFill>
                  <a:srgbClr val="0A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800" dirty="0"/>
          </a:p>
        </p:txBody>
      </p:sp>
      <p:sp>
        <p:nvSpPr>
          <p:cNvPr id="4" name="Text 2"/>
          <p:cNvSpPr/>
          <p:nvPr/>
        </p:nvSpPr>
        <p:spPr>
          <a:xfrm>
            <a:off x="320040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54680" y="2852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e Sicurezza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3767328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trigger applicativi, interfaccia, difese e gestione degli accessi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IMPLEMENTAZIONE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Vincoli dinamici: i trigger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Alcune regole richiedono aggiornamenti automatici in risposta a un evento. In Django sono realizzate tramite signal.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65176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automatico dell'importo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9809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del salvataggio di una prenotazione: importo = prezzo base × quantità, evitando errori o dimenticanze.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730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373075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disponibilità dello staff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05993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All'assegnazione il membro diventa «non disponibile» e torna «disponibile» quando non ha altre assegnazioni.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480974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della data di pagamento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25880" y="51389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il salvataggio, se lo stato è «Completata» e c'è un metodo di pagamento, registra data e ora.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IMPLEMENTAZIONE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tecnologico e architettura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 come framework della web application;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come database relazionale;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/ CSS per un'interfaccia responsive;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4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 Django per i trigger applicativi.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Model – View – Template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21945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 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dei dati e accesso al database;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 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applicativa e regole di business;</a:t>
            </a:r>
            <a:endParaRPr lang="en-US" sz="140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 </a:t>
            </a: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delle informazioni all'utente.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IMPLEMENTAZIONE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L'interfaccia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925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L'applicazione è organizzata in pagine dedicate alle principali attività di gestione.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004048"/>
            <a:ext cx="73501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Homepage</a:t>
            </a: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 dei servizi con prezzi di partenza, registrazione e accesso.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D724DD7-2315-BFEE-2BDC-07B034394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555557"/>
            <a:ext cx="7979356" cy="38635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C7A0BF5-2B9F-FF1D-05B0-F70942EC7AE0}"/>
              </a:ext>
            </a:extLst>
          </p:cNvPr>
          <p:cNvSpPr txBox="1"/>
          <p:nvPr/>
        </p:nvSpPr>
        <p:spPr>
          <a:xfrm>
            <a:off x="2622958" y="419449"/>
            <a:ext cx="7485776" cy="48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Login</a:t>
            </a:r>
            <a:r>
              <a:rPr lang="en-US" sz="2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credenziali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staff e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amministratori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0FBF971-C9B0-6F80-F0F6-5D24901AF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89" y="1127867"/>
            <a:ext cx="9015137" cy="460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05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8E3DB77-8B9D-3534-6536-9EBD885E8126}"/>
              </a:ext>
            </a:extLst>
          </p:cNvPr>
          <p:cNvSpPr txBox="1"/>
          <p:nvPr/>
        </p:nvSpPr>
        <p:spPr>
          <a:xfrm>
            <a:off x="840530" y="293615"/>
            <a:ext cx="10510940" cy="47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2400" b="1" dirty="0" err="1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amministrativa</a:t>
            </a: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staff;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ultime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56A6294-0774-0797-2E23-BCCBCC8B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73" y="906011"/>
            <a:ext cx="8991519" cy="56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04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10DFC7-C72A-D5E6-48F7-B785D31370C6}"/>
              </a:ext>
            </a:extLst>
          </p:cNvPr>
          <p:cNvSpPr txBox="1"/>
          <p:nvPr/>
        </p:nvSpPr>
        <p:spPr>
          <a:xfrm>
            <a:off x="1268135" y="159391"/>
            <a:ext cx="10057003" cy="47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2400" b="1" dirty="0" err="1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Gestione</a:t>
            </a: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servizi</a:t>
            </a:r>
            <a:r>
              <a:rPr lang="en-US" sz="2400" b="1" dirty="0">
                <a:solidFill>
                  <a:srgbClr val="0E3A4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eliminazione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rispecchiando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l'entità</a:t>
            </a:r>
            <a:r>
              <a:rPr lang="en-US" sz="1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SERVIZIO.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12FEA7F-AC42-E821-8442-AC5B9D35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35" y="803187"/>
            <a:ext cx="9554474" cy="53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41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50">
                <a:solidFill>
                  <a:srgbClr val="13A89E"/>
                </a:solidFill>
                <a:latin typeface="Calibri"/>
              </a:rPr>
              <a:t>04 · SICUREZZA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3A43"/>
                </a:solidFill>
                <a:latin typeface="Cambria"/>
              </a:rPr>
              <a:t>Meccanismi di sicurezza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591056"/>
            <a:ext cx="777240" cy="0"/>
          </a:xfrm>
          <a:prstGeom prst="line">
            <a:avLst/>
          </a:prstGeom>
          <a:ln w="34925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288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5A6B70"/>
                </a:solidFill>
                <a:latin typeface="Calibri"/>
              </a:rPr>
              <a:t>L'accesso al sistema è protetto da più meccanismi che garantiscono autenticazione e coerenza dei dati.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0241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>
                <a:solidFill>
                  <a:srgbClr val="1B3A41"/>
                </a:solidFill>
                <a:latin typeface="Calibri"/>
              </a:rPr>
              <a:t>Autenticazione con username e password; le sessioni mantengono lo stato di accesso;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>
                <a:solidFill>
                  <a:srgbClr val="1B3A41"/>
                </a:solidFill>
                <a:latin typeface="Calibri"/>
              </a:rPr>
              <a:t>password mai in chiaro: hashing con salt tramite l'algoritmo PBKDF2 di Django;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>
                <a:solidFill>
                  <a:srgbClr val="1B3A41"/>
                </a:solidFill>
                <a:latin typeface="Calibri"/>
              </a:rPr>
              <a:t>validatori di robustezza: lunghezza minima, no password comuni o solo numeriche, controllo di somiglianza con i dati utente;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13A89E"/>
                </a:solidFill>
                <a:latin typeface="Calibri"/>
              </a:rPr>
              <a:t>—   </a:t>
            </a:r>
            <a:r>
              <a:rPr sz="1450" b="0" i="0">
                <a:solidFill>
                  <a:srgbClr val="1B3A41"/>
                </a:solidFill>
                <a:latin typeface="Calibri"/>
              </a:rPr>
              <a:t>i vincoli definiti nel modello logico garantiscono la coerenza delle informazioni memorizzate.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DCE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50">
                <a:solidFill>
                  <a:srgbClr val="9AA7AB"/>
                </a:solidFill>
                <a:latin typeface="Calibri"/>
              </a:rPr>
              <a:t>Pulizie Service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SICUREZZA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Sicurezza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Attacco brute force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5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mai in chiaro: Django usa PBKDF2 con salt;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5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Validatori di robustezza (lunghezza minima, no password comuni);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5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implementati: MFA e blocco temporaneo dei tentativi.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21945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5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query passano dall'ORM di Django;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5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parametrizzate: i dati restano separati dal codice SQL;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5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query SQL scritta manualmente nel progetto.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GESTIONE DEGLI ACCESSI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profili utente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distinzione dei ruoli mostra a ciascun utente solo le funzionalità di competenza, migliorando usabilità e sicurezza.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017520"/>
            <a:ext cx="640080" cy="0"/>
          </a:xfrm>
          <a:prstGeom prst="line">
            <a:avLst/>
          </a:prstGeom>
          <a:noFill/>
          <a:ln w="28575">
            <a:solidFill>
              <a:srgbClr val="13A8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consultare il catalogo dei servizi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prenotazioni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i propri pagamenti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visualizzare lo storico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9120" y="3017520"/>
            <a:ext cx="640080" cy="0"/>
          </a:xfrm>
          <a:prstGeom prst="line">
            <a:avLst/>
          </a:prstGeom>
          <a:noFill/>
          <a:ln w="28575">
            <a:solidFill>
              <a:srgbClr val="13A8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004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visualizzare i servizi assegnati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consultare le prenotazioni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aggiornare lo stato degli interventi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Amministratore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01000" y="3017520"/>
            <a:ext cx="640080" cy="0"/>
          </a:xfrm>
          <a:prstGeom prst="line">
            <a:avLst/>
          </a:prstGeom>
          <a:noFill/>
          <a:ln w="28575">
            <a:solidFill>
              <a:srgbClr val="13A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2004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il catalogo dei servizi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assegnare il personale ai servizi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</a:t>
            </a:r>
            <a:r>
              <a:rPr lang="en-US" sz="1300" dirty="0">
                <a:solidFill>
                  <a:srgbClr val="1B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monitorare l'attività dalla dashboard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completo, dal concetto al codice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777240" cy="0"/>
          </a:xfrm>
          <a:prstGeom prst="line">
            <a:avLst/>
          </a:prstGeom>
          <a:noFill/>
          <a:ln w="34925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E-R    </a:t>
            </a: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entità e quattro relazioni, con generalizzazioni risolte per accorpamento nella superclasse.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 3NF   </a:t>
            </a: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logica normalizzata, con vincoli e integrità referenziale garantiti.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automatizzata   </a:t>
            </a: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trigger via signal di Django per importi, disponibilità e date di pagamento.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integrata   </a:t>
            </a: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PBKDF2, validatori password e ORM a difesa dalle SQL injection.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DCE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Pulizie Service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2277</Words>
  <Application>Microsoft Macintosh PowerPoint</Application>
  <PresentationFormat>Widescreen</PresentationFormat>
  <Paragraphs>379</Paragraphs>
  <Slides>31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Pulizie Service – Progetto di Basi di Dati</dc:title>
  <dc:subject>PptxGenJS Presentation</dc:subject>
  <dc:creator>Gabriele Bimbo</dc:creator>
  <cp:lastModifiedBy>Gabriele Bimbo</cp:lastModifiedBy>
  <cp:revision>7</cp:revision>
  <dcterms:created xsi:type="dcterms:W3CDTF">2026-06-25T15:29:07Z</dcterms:created>
  <dcterms:modified xsi:type="dcterms:W3CDTF">2026-06-29T09:23:41Z</dcterms:modified>
</cp:coreProperties>
</file>